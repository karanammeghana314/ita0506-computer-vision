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60" r:id="rId3"/>
    <p:sldId id="310" r:id="rId4"/>
    <p:sldId id="311" r:id="rId5"/>
    <p:sldId id="309" r:id="rId6"/>
    <p:sldId id="312" r:id="rId7"/>
    <p:sldId id="304" r:id="rId8"/>
    <p:sldId id="305" r:id="rId9"/>
    <p:sldId id="306" r:id="rId10"/>
    <p:sldId id="313" r:id="rId11"/>
    <p:sldId id="314" r:id="rId12"/>
    <p:sldId id="315" r:id="rId13"/>
    <p:sldId id="267" r:id="rId14"/>
    <p:sldId id="316" r:id="rId15"/>
    <p:sldId id="317" r:id="rId16"/>
    <p:sldId id="323" r:id="rId17"/>
    <p:sldId id="318" r:id="rId18"/>
    <p:sldId id="322" r:id="rId19"/>
    <p:sldId id="319" r:id="rId20"/>
    <p:sldId id="320" r:id="rId21"/>
    <p:sldId id="321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404" autoAdjust="0"/>
  </p:normalViewPr>
  <p:slideViewPr>
    <p:cSldViewPr>
      <p:cViewPr varScale="1">
        <p:scale>
          <a:sx n="78" d="100"/>
          <a:sy n="78" d="100"/>
        </p:scale>
        <p:origin x="696" y="5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359BC-59E3-4E9A-9861-0BF49EBDC94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CE006-BAFD-4FA8-9E9B-B01FA093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205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CE006-BAFD-4FA8-9E9B-B01FA0933DF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709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CE006-BAFD-4FA8-9E9B-B01FA0933DF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69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71414" y="2102545"/>
            <a:ext cx="192024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7998" y="28081"/>
            <a:ext cx="4616003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001000" y="3733800"/>
            <a:ext cx="3886200" cy="46720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sz="2400" spc="-7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400" spc="-2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Monisha K(192421098 )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Monika P(192425059)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Harshitha G S(192421221)	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Chaitra(192425217)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Meghana(192321126)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Teja Sri(192525249)</a:t>
            </a:r>
            <a:b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pc="-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pc="-25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pc="-25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FEC98-D515-71B1-F627-F38CD18D0984}"/>
              </a:ext>
            </a:extLst>
          </p:cNvPr>
          <p:cNvSpPr txBox="1"/>
          <p:nvPr/>
        </p:nvSpPr>
        <p:spPr>
          <a:xfrm>
            <a:off x="1066800" y="2819399"/>
            <a:ext cx="98819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 – COMPUTER VISION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5F1620-4E9A-C4F9-9CC5-6A5289C687FD}"/>
              </a:ext>
            </a:extLst>
          </p:cNvPr>
          <p:cNvSpPr txBox="1"/>
          <p:nvPr/>
        </p:nvSpPr>
        <p:spPr>
          <a:xfrm>
            <a:off x="381000" y="4038600"/>
            <a:ext cx="5291137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Program Director : </a:t>
            </a:r>
            <a:r>
              <a:rPr kumimoji="0" lang="en-IN" sz="2000" b="0" i="0" u="none" strike="noStrike" kern="0" cap="none" spc="-1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IN" sz="2000" b="0" i="0" u="none" strike="noStrike" kern="0" cap="none" spc="-1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Sasi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Rekha, Prof/CSE</a:t>
            </a:r>
          </a:p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Faculty:- 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Mrs. R C Jeni Gracia, AP / CSE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SE-Computer Science and Engineering">
            <a:extLst>
              <a:ext uri="{FF2B5EF4-FFF2-40B4-BE49-F238E27FC236}">
                <a16:creationId xmlns:a16="http://schemas.microsoft.com/office/drawing/2014/main" id="{A828A50E-EF19-CDD1-34FE-5D34AAF01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36" y="233265"/>
            <a:ext cx="10461523" cy="83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098409-85F6-0F2D-4500-161EB9B0447B}"/>
              </a:ext>
            </a:extLst>
          </p:cNvPr>
          <p:cNvSpPr txBox="1"/>
          <p:nvPr/>
        </p:nvSpPr>
        <p:spPr>
          <a:xfrm>
            <a:off x="1073728" y="1668823"/>
            <a:ext cx="988195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Public Safety Monitoring Through Pose Estimation and Activity Recognition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0" y="376446"/>
            <a:ext cx="461600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B67C31-356E-0941-C6D8-004559976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78" y="59857"/>
            <a:ext cx="1103472" cy="1219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601704-DA6B-57B7-F8C0-53DE75AE0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17E4B7-334B-139B-C09C-802CDE44FE3C}"/>
              </a:ext>
            </a:extLst>
          </p:cNvPr>
          <p:cNvSpPr txBox="1"/>
          <p:nvPr/>
        </p:nvSpPr>
        <p:spPr>
          <a:xfrm>
            <a:off x="533400" y="1499734"/>
            <a:ext cx="9313718" cy="5506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- Overall Design of Project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CEF3-856D-87BB-20E4-F306EB1E1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658B63E-B5EC-D40D-A03E-5AB4227C6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5200" y="404155"/>
            <a:ext cx="507320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>
              <a:lnSpc>
                <a:spcPct val="100000"/>
              </a:lnSpc>
              <a:spcBef>
                <a:spcPts val="100"/>
              </a:spcBef>
            </a:pPr>
            <a:r>
              <a:rPr lang="en-US" sz="40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AF2DC0-ADC4-CD93-3B30-5671078EF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3862CC-08D5-AABA-C735-4EDEC5B1A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3F7B56-A2AD-2FE0-8D59-8315D6343D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63" t="5081" r="38888" b="74670"/>
          <a:stretch/>
        </p:blipFill>
        <p:spPr>
          <a:xfrm>
            <a:off x="8153400" y="2057400"/>
            <a:ext cx="3429000" cy="3657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67A9AE-2E1A-F56C-42FC-5FBF135CE5DC}"/>
              </a:ext>
            </a:extLst>
          </p:cNvPr>
          <p:cNvSpPr txBox="1"/>
          <p:nvPr/>
        </p:nvSpPr>
        <p:spPr>
          <a:xfrm>
            <a:off x="381000" y="1828800"/>
            <a:ext cx="73152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safety monitoring is important for detecting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dangerous and abnormal activities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crowded public environments.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CCTV systems mainly depend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can be time-consuming and prone to human error.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can automatically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footage to understand human movements and activities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 Estimation identifies important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body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the head, shoulders, elbows, wrists, hips, and knees.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Recognition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body movements to identify activities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walking, falling, fighting, pushing, and suspicious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video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potentially unsafe activities and generate alerts for faster response.</a:t>
            </a:r>
          </a:p>
        </p:txBody>
      </p:sp>
    </p:spTree>
    <p:extLst>
      <p:ext uri="{BB962C8B-B14F-4D97-AF65-F5344CB8AC3E}">
        <p14:creationId xmlns:p14="http://schemas.microsoft.com/office/powerpoint/2010/main" val="3383930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72A3B-9BD8-07B8-462A-B1491964D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93536A-260D-B06A-BF23-03D899D8C7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600" y="374370"/>
            <a:ext cx="6781800" cy="7332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2C38E1-BC9B-F691-AB4F-E62BD0B85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A865B-85AD-FC48-A6D0-65CECDA88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3E0E05-DFA9-0EA6-D93C-E873A11CA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235346"/>
              </p:ext>
            </p:extLst>
          </p:nvPr>
        </p:nvGraphicFramePr>
        <p:xfrm>
          <a:off x="303152" y="1703715"/>
          <a:ext cx="11622001" cy="5079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653">
                  <a:extLst>
                    <a:ext uri="{9D8B030D-6E8A-4147-A177-3AD203B41FA5}">
                      <a16:colId xmlns:a16="http://schemas.microsoft.com/office/drawing/2014/main" val="2694772867"/>
                    </a:ext>
                  </a:extLst>
                </a:gridCol>
                <a:gridCol w="3361091">
                  <a:extLst>
                    <a:ext uri="{9D8B030D-6E8A-4147-A177-3AD203B41FA5}">
                      <a16:colId xmlns:a16="http://schemas.microsoft.com/office/drawing/2014/main" val="156346657"/>
                    </a:ext>
                  </a:extLst>
                </a:gridCol>
                <a:gridCol w="2428892">
                  <a:extLst>
                    <a:ext uri="{9D8B030D-6E8A-4147-A177-3AD203B41FA5}">
                      <a16:colId xmlns:a16="http://schemas.microsoft.com/office/drawing/2014/main" val="1957986579"/>
                    </a:ext>
                  </a:extLst>
                </a:gridCol>
                <a:gridCol w="2548109">
                  <a:extLst>
                    <a:ext uri="{9D8B030D-6E8A-4147-A177-3AD203B41FA5}">
                      <a16:colId xmlns:a16="http://schemas.microsoft.com/office/drawing/2014/main" val="2508305193"/>
                    </a:ext>
                  </a:extLst>
                </a:gridCol>
                <a:gridCol w="2443256">
                  <a:extLst>
                    <a:ext uri="{9D8B030D-6E8A-4147-A177-3AD203B41FA5}">
                      <a16:colId xmlns:a16="http://schemas.microsoft.com/office/drawing/2014/main" val="4094685697"/>
                    </a:ext>
                  </a:extLst>
                </a:gridCol>
              </a:tblGrid>
              <a:tr h="568306"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016474"/>
                  </a:ext>
                </a:extLst>
              </a:tr>
              <a:tr h="1048482">
                <a:tc>
                  <a:txBody>
                    <a:bodyPr/>
                    <a:lstStyle/>
                    <a:p>
                      <a:r>
                        <a:rPr lang="en-IN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Authors et al.</a:t>
                      </a:r>
                      <a:endParaRPr lang="en-US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Intelligent Crime Surveillance Video System for Real-Time Applications(2025)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YOLO, </a:t>
                      </a:r>
                      <a:r>
                        <a:rPr lang="en-IN" sz="16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OpenPose</a:t>
                      </a: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6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DeepSORT</a:t>
                      </a: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violent activities in real time and generates alerts.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violence rather than harassment detection.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9275947"/>
                  </a:ext>
                </a:extLst>
              </a:tr>
              <a:tr h="1288134">
                <a:tc>
                  <a:txBody>
                    <a:bodyPr/>
                    <a:lstStyle/>
                    <a:p>
                      <a:r>
                        <a:rPr lang="en-IN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Dina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Famouri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Md Zarif Hossain, Ahmed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Imteaj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  <a:p>
                      <a:r>
                        <a:rPr lang="en-US" sz="16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ose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Protect: Federated Skeleton-Based Anomaly Detection for Privacy-Conscious Video Surveillance(2025)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Pose Estimation </a:t>
                      </a:r>
                    </a:p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Federated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privacy preserving anomaly detection in surveillance videos.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anomalies, not specific harassment events.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825667"/>
                  </a:ext>
                </a:extLst>
              </a:tr>
              <a:tr h="1048482">
                <a:tc>
                  <a:txBody>
                    <a:bodyPr/>
                    <a:lstStyle/>
                    <a:p>
                      <a:r>
                        <a:rPr lang="en-IN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Lijuan Zhou, Xiang Meng,</a:t>
                      </a:r>
                      <a:endParaRPr lang="en-US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Pose-Based Estimation, Tracking and Action Recognition with Deep Learning: A Survey(2023)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Learning, Pose Estimation, Action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state of the art techniques for pose estimation and activity recognition.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paper; does not propose a detection system.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9413381"/>
                  </a:ext>
                </a:extLst>
              </a:tr>
              <a:tr h="1048482">
                <a:tc>
                  <a:txBody>
                    <a:bodyPr/>
                    <a:lstStyle/>
                    <a:p>
                      <a:r>
                        <a:rPr lang="en-IN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Thilakarathne, Aiden Nibali,</a:t>
                      </a:r>
                      <a:endParaRPr lang="en-US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Pose is All You Need: Pose Only Group Activity Recognition System (POGARS)(2022)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Skeleton-Based Pose Recognition,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Accurately recognizes group activities using only human poses.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activity recognition; not designed for harassment detection.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990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971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ADF86B-E886-BBC1-410D-8EFEFC2EB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48" y="152400"/>
            <a:ext cx="1103472" cy="1347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544DB0-6EC6-86E4-3C8D-7526556C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798" y="259118"/>
            <a:ext cx="1110754" cy="1133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C78C93-F319-FE29-2779-C9C9824B4773}"/>
              </a:ext>
            </a:extLst>
          </p:cNvPr>
          <p:cNvSpPr txBox="1"/>
          <p:nvPr/>
        </p:nvSpPr>
        <p:spPr>
          <a:xfrm>
            <a:off x="2438400" y="129279"/>
            <a:ext cx="6929131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b="1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983D56-8C56-5287-D7E3-2B33902DAC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001" r="69259" b="48888"/>
          <a:stretch/>
        </p:blipFill>
        <p:spPr>
          <a:xfrm>
            <a:off x="8458200" y="2148412"/>
            <a:ext cx="3393062" cy="34141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DE9796-423E-C09B-ED6F-63CFE5949A46}"/>
              </a:ext>
            </a:extLst>
          </p:cNvPr>
          <p:cNvSpPr txBox="1"/>
          <p:nvPr/>
        </p:nvSpPr>
        <p:spPr>
          <a:xfrm>
            <a:off x="340738" y="1905000"/>
            <a:ext cx="773646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CCTV surveillance depends heavily on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manual monitoring by security personnel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multiple cameras simultaneously can result in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fatigue, human error, and delayed detection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volumes of video footage make it difficult to identify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activities quickly and accurately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surveillance systems may detect people but often have limited ability to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their activities and interactions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 automated AI-based system is required to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abnormal activities and support faster safety responses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147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29A9D-2186-C61E-A022-82D5CD4FA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768148-F03D-A51C-A80A-DF951221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48" y="152400"/>
            <a:ext cx="1103472" cy="1347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D83745-EB0D-04EB-2EEB-C193944FC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798" y="259118"/>
            <a:ext cx="1110754" cy="1133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A15185-F3FA-57BF-1084-504965670ED0}"/>
              </a:ext>
            </a:extLst>
          </p:cNvPr>
          <p:cNvSpPr txBox="1"/>
          <p:nvPr/>
        </p:nvSpPr>
        <p:spPr>
          <a:xfrm>
            <a:off x="3008472" y="129279"/>
            <a:ext cx="6359059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86DAD5-5BB8-6674-E60A-1905FC8B53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81" r="68519" b="74444"/>
          <a:stretch/>
        </p:blipFill>
        <p:spPr>
          <a:xfrm>
            <a:off x="8229600" y="1986441"/>
            <a:ext cx="3490372" cy="36873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0F98A8-F31E-CB65-F019-D15EBF6EC188}"/>
              </a:ext>
            </a:extLst>
          </p:cNvPr>
          <p:cNvSpPr txBox="1"/>
          <p:nvPr/>
        </p:nvSpPr>
        <p:spPr>
          <a:xfrm>
            <a:off x="228600" y="1905000"/>
            <a:ext cx="7543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Computer Vision system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public safety monitoring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video input.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individuals and estimate their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posture and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pose estimation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recognize different activities by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movement and posture patterns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activities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normal, suspicious, or potentially dangerous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predefined patterns.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timely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for detected suspicious activities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assisting security personnel in taking appropriate action.</a:t>
            </a:r>
          </a:p>
        </p:txBody>
      </p:sp>
    </p:spTree>
    <p:extLst>
      <p:ext uri="{BB962C8B-B14F-4D97-AF65-F5344CB8AC3E}">
        <p14:creationId xmlns:p14="http://schemas.microsoft.com/office/powerpoint/2010/main" val="4225688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4EF21E-7E02-0738-A3D5-BD1B6807E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81" y="142665"/>
            <a:ext cx="1103472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B03364-DF14-3A4E-0F4B-BBCC557E2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123448"/>
            <a:ext cx="1277150" cy="13037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60A53E-37CE-FCCF-13CD-255BFB1C6F12}"/>
              </a:ext>
            </a:extLst>
          </p:cNvPr>
          <p:cNvSpPr txBox="1"/>
          <p:nvPr/>
        </p:nvSpPr>
        <p:spPr>
          <a:xfrm>
            <a:off x="3810000" y="228600"/>
            <a:ext cx="480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639A21-1BC9-8F8D-6A74-911B74C41A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170275"/>
            <a:ext cx="9372600" cy="553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08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67748F-A32B-EE40-D4E8-82A039EED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29067"/>
            <a:ext cx="1103472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77DA75-8183-8F98-DB2A-A5BFCC873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450430"/>
            <a:ext cx="1200950" cy="12259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71C86F-E165-18A1-17F5-71F8868C0B5B}"/>
              </a:ext>
            </a:extLst>
          </p:cNvPr>
          <p:cNvSpPr txBox="1"/>
          <p:nvPr/>
        </p:nvSpPr>
        <p:spPr>
          <a:xfrm>
            <a:off x="2895600" y="6858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E360C5-62E1-0050-C3ED-F80D933A5092}"/>
              </a:ext>
            </a:extLst>
          </p:cNvPr>
          <p:cNvSpPr txBox="1"/>
          <p:nvPr/>
        </p:nvSpPr>
        <p:spPr>
          <a:xfrm>
            <a:off x="1600200" y="228601"/>
            <a:ext cx="8686801" cy="148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VIDEO INPUT AND   PREPROCESSING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91466-8074-EFBD-0A23-2C176FD78660}"/>
              </a:ext>
            </a:extLst>
          </p:cNvPr>
          <p:cNvSpPr txBox="1"/>
          <p:nvPr/>
        </p:nvSpPr>
        <p:spPr>
          <a:xfrm>
            <a:off x="304800" y="2166974"/>
            <a:ext cx="7848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recorded video footage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prepares the video frames for further analysis by the public safety monitoring system.</a:t>
            </a:r>
          </a:p>
          <a:p>
            <a:pPr algn="l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video capture, frame extraction, resizing, and basic image preprocessing.</a:t>
            </a:r>
          </a:p>
          <a:p>
            <a:pPr algn="l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implemented: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video is loaded and divided into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frames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Each frame is resized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being passed to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Detection Module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further analysis.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83DC45-E4ED-0F0A-58C4-2C6CD2B6D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345" y="1976475"/>
            <a:ext cx="3802855" cy="378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907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2160FF-1221-4755-24CE-74AE7FA377AF}"/>
              </a:ext>
            </a:extLst>
          </p:cNvPr>
          <p:cNvSpPr txBox="1"/>
          <p:nvPr/>
        </p:nvSpPr>
        <p:spPr>
          <a:xfrm>
            <a:off x="1905000" y="228600"/>
            <a:ext cx="8305800" cy="66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PERSON DETECTION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2607C-7F3C-1433-51E4-A7A351A4C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AC1049-23EF-4727-8B50-2328E8869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E8FBAB-06E4-8C5E-6B47-D37CFA8B3808}"/>
              </a:ext>
            </a:extLst>
          </p:cNvPr>
          <p:cNvSpPr txBox="1"/>
          <p:nvPr/>
        </p:nvSpPr>
        <p:spPr>
          <a:xfrm>
            <a:off x="381000" y="2057400"/>
            <a:ext cx="71628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and identifies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present in each video frame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that their movements and activities can be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individually.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(You Only Look Once) Object Detection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detecting people and generating bounding boxes.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implemented: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video frame is given to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detects persons, draws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 boxes around them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provides a confidence score for each detection. The detected persons are then passed to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 Estimation Module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C0EF21-17B5-CB05-AD5A-8E45694AF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561" y="1872883"/>
            <a:ext cx="3962400" cy="427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70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18178-D79D-F4D2-C44C-C5D35B89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CD89E7-5125-A380-66F1-9D26B98F0742}"/>
              </a:ext>
            </a:extLst>
          </p:cNvPr>
          <p:cNvSpPr txBox="1"/>
          <p:nvPr/>
        </p:nvSpPr>
        <p:spPr>
          <a:xfrm>
            <a:off x="1894361" y="349886"/>
            <a:ext cx="830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HUMAN POSE ESTIMATION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9C5F5-D2CE-3F0E-5602-B320D9FB9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4453CF-8B53-3321-2D84-B3D9FEA73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0443A-D721-158F-285F-8B77AE38D1D2}"/>
              </a:ext>
            </a:extLst>
          </p:cNvPr>
          <p:cNvSpPr txBox="1"/>
          <p:nvPr/>
        </p:nvSpPr>
        <p:spPr>
          <a:xfrm>
            <a:off x="381000" y="1752600"/>
            <a:ext cx="73152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posture and position of each detected person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tracking important body parts.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Pose Estimation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detect human body landmarks and generate the skeletal structure.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implemented: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detected person from Module 2 is given to the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Pose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identifies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head, shoulders, elbows, wrists, hips, knees, and ankles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These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then used for activity recognition.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F8A6E1-5C85-9338-F9FA-BE5CE9AFC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1828800"/>
            <a:ext cx="3886200" cy="409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89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9D7AC-7E69-8A0D-458F-602FF6659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C57BBC-9E41-FC7B-C6CD-44CB0B111CC8}"/>
              </a:ext>
            </a:extLst>
          </p:cNvPr>
          <p:cNvSpPr txBox="1"/>
          <p:nvPr/>
        </p:nvSpPr>
        <p:spPr>
          <a:xfrm>
            <a:off x="1901288" y="381000"/>
            <a:ext cx="830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</a:t>
            </a: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RECOGNITION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0B2FEB-A973-1DF3-8EA3-076D87D12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AA1045-EC6D-D3F6-BFDB-E2E31B27E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74A8D8-C805-86BE-16C0-5AEEE472DD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222" t="77778" r="38889"/>
          <a:stretch/>
        </p:blipFill>
        <p:spPr>
          <a:xfrm>
            <a:off x="8313316" y="2438400"/>
            <a:ext cx="3465729" cy="2971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DA0C7F-5662-6047-80A2-BA094D0742FB}"/>
              </a:ext>
            </a:extLst>
          </p:cNvPr>
          <p:cNvSpPr txBox="1"/>
          <p:nvPr/>
        </p:nvSpPr>
        <p:spPr>
          <a:xfrm>
            <a:off x="412955" y="1981200"/>
            <a:ext cx="758804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or action performed by a person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body posture and movement patterns.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Neural Network (CNN) for Activity Classification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extracted human pose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temporal movement patterns.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implemented: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body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obtained from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 Estimation Module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consecutive video frames to identify movement patterns. The system classifies activities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walking, standing, falling, fighting, pushing, and running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5353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746C3-6AE9-FA25-8C08-DDDD60A8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336050-01CE-246F-6A06-E321F049422A}"/>
              </a:ext>
            </a:extLst>
          </p:cNvPr>
          <p:cNvSpPr txBox="1"/>
          <p:nvPr/>
        </p:nvSpPr>
        <p:spPr>
          <a:xfrm>
            <a:off x="1905000" y="228600"/>
            <a:ext cx="8305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5: SUSPICIOUS ACTIVITY DETECTION</a:t>
            </a:r>
          </a:p>
          <a:p>
            <a:pPr algn="ctr"/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2AE876-9410-08BC-7DA3-72B3B8561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DE5E1-790F-8421-962D-E340E1736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AD5D9B-99DB-D873-F24B-13D190D570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592" t="77778"/>
          <a:stretch/>
        </p:blipFill>
        <p:spPr>
          <a:xfrm>
            <a:off x="8458201" y="2369204"/>
            <a:ext cx="3250622" cy="30409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BDB0C2-F5AE-692E-89A3-FC9EB9E7EE1E}"/>
              </a:ext>
            </a:extLst>
          </p:cNvPr>
          <p:cNvSpPr txBox="1"/>
          <p:nvPr/>
        </p:nvSpPr>
        <p:spPr>
          <a:xfrm>
            <a:off x="381001" y="1676400"/>
            <a:ext cx="779837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whether the recognized activity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normal, suspicious, or potentially dangerous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person’s movement and activity pattern.</a:t>
            </a:r>
          </a:p>
          <a:p>
            <a:pPr algn="l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Analysis and Machine Learning Classification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evaluate the detected activities and identify suspicious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implemented: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recognized activity and pose information are compared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 safety conditions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Activities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fighting, pushing, falling, or unusual movements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identified as suspicious and marked for further action.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607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9800" y="457200"/>
            <a:ext cx="78486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6: ALERT AND SAFETY MONITORING</a:t>
            </a:r>
            <a:endParaRPr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176667"/>
            <a:ext cx="1335513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4C0FCF-7D21-2B1B-CADD-5D366DB41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7" y="176667"/>
            <a:ext cx="1103472" cy="13473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6CCEB0-AB08-E256-A363-1D08A93FBDA1}"/>
              </a:ext>
            </a:extLst>
          </p:cNvPr>
          <p:cNvSpPr txBox="1"/>
          <p:nvPr/>
        </p:nvSpPr>
        <p:spPr>
          <a:xfrm>
            <a:off x="381000" y="1905000"/>
            <a:ext cx="784859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safety monitoring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generates an alert when suspicious or potentially dangerous activity is detected.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Event Detection and Automated Alert Generation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notify security personnel about detected threats.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implemented: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suspicious activity is identified, the system displays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type, detection status, and alert message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monitoring interface, allowing security personnel to respond quickly.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411BD1-54B4-35C1-9386-AFEB8E7222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592" t="77778"/>
          <a:stretch/>
        </p:blipFill>
        <p:spPr>
          <a:xfrm>
            <a:off x="8256638" y="2417635"/>
            <a:ext cx="3250622" cy="30409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94D8FAF-B1F4-76AC-EB57-D0FCE76B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62229C-8056-45F2-FA90-DBA9183E96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172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425418-8044-0E6A-4CC0-A68AD6922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EA1325-CF45-FAF3-4948-4E9F90D60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AD8137-7FFA-82B0-858A-343D5D8A4B49}"/>
              </a:ext>
            </a:extLst>
          </p:cNvPr>
          <p:cNvSpPr txBox="1"/>
          <p:nvPr/>
        </p:nvSpPr>
        <p:spPr>
          <a:xfrm>
            <a:off x="609600" y="1828800"/>
            <a:ext cx="111252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successfully processes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or recorded video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detects people present in the monitored environment.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YOLO-based person detection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individuals, while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important body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movement analysis.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activity recognition module identifies activities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walking, standing, falling, fighting, and pushing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body movements.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differentiates between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and potentially dangerous activities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reduce the dependency on continuous manual monitoring.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combination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detection, pose estimation, and activity recognition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effective approach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public safety monitoring and timely alerts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594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DFEDA7D-3BC8-697B-84BB-A5C61C4F7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91018AC-62CD-11AB-9D1E-AC08B97791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172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5FB238-1610-2D29-94C6-E7B116D67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322ED-918E-7E8F-95BA-05F1D9792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2F962E-4A7E-CD09-2B82-FDB3DAE0C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676400"/>
            <a:ext cx="4343400" cy="4379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2E58EA-DC62-1F7F-87D0-E9821FC3F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676401"/>
            <a:ext cx="7124554" cy="437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53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0BC55A-9A33-90E0-88AC-AB09BBE6B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03960AA-3724-09E1-0F49-97B1CBA78E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172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25E9B1-C6C9-F210-2332-50FB3A069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655C53-5A14-71C1-AFFA-EF0BF02E4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099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DE1F07-763C-0995-9352-919DBF79A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52" y="1447800"/>
            <a:ext cx="5792848" cy="48192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FA780F-1FCA-AF59-9551-8314E801B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248" y="1447800"/>
            <a:ext cx="5713352" cy="455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29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3B2A87-83C4-9C77-CC9D-DD6A37590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E2FC261-3200-5FBC-64B3-83F00B4458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172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CFE0FA-54F4-6B4E-CEB5-011A7C44C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7979C5-FBAE-0496-D252-77928CA6F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DA701E-973C-1CB0-2DD4-3608E7D12447}"/>
              </a:ext>
            </a:extLst>
          </p:cNvPr>
          <p:cNvSpPr txBox="1"/>
          <p:nvPr/>
        </p:nvSpPr>
        <p:spPr>
          <a:xfrm>
            <a:off x="381000" y="1752600"/>
            <a:ext cx="11544154" cy="4553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Places: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used in malls, railway stations, bus terminals, airports, and other crowded areas to identify suspicious activities.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Surveillance: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security personnel monitor CCTV footage and detect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fighting, pushing, falling, or unusual movements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assist in monitoring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schools and colleges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potentially unsafe activities and emergency situations.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integrated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surveillance systems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automated public safety monitoring across multiple locations.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Response: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provide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alerts for dangerous activities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security teams respond quickly to potential safety threats.</a:t>
            </a:r>
          </a:p>
        </p:txBody>
      </p:sp>
    </p:spTree>
    <p:extLst>
      <p:ext uri="{BB962C8B-B14F-4D97-AF65-F5344CB8AC3E}">
        <p14:creationId xmlns:p14="http://schemas.microsoft.com/office/powerpoint/2010/main" val="1264525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0709265-BE31-AAC4-0B92-C6E707431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825FDC7-3658-022C-8BC8-211F411FAD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172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8A6047-F2EF-8BD5-4282-A6DD8FF92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1"/>
            <a:ext cx="1103472" cy="1143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F0B051-BC93-1536-2675-9F2AC4FBD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F58B4F-F51B-DBA6-0E0C-7EAA5F69004F}"/>
              </a:ext>
            </a:extLst>
          </p:cNvPr>
          <p:cNvSpPr txBox="1"/>
          <p:nvPr/>
        </p:nvSpPr>
        <p:spPr>
          <a:xfrm>
            <a:off x="266846" y="1371600"/>
            <a:ext cx="1165830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Surveillance: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the system for real-time monitoring using live CCTV cameras in public places.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Activity Recognition: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 the system to recognize more activities such as theft, accidents, running, crowding, and physical violence.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Deep Learning Models: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advanced models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LSTM, GRU, Transformers, and 3D CNNs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activity classification accuracy.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Multi-Person Tracking: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advanced tracking techniques to continuously monitor multiple people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movements.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Alert System: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instant alerts through notifications, alarms, or mobile applications when suspicious activities are detected.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City Integration: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the system with smart-city surveillance networks and emergency services for faster response and improved public safety.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827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9E452E-F5D6-9EBB-1157-AB5091420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9233BDC-BCCE-D6C4-B590-521C0262B1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172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221BDA-4A0C-CED6-80B5-DF4409F5F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7D257B-C20B-0976-FAA9-A330EC825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5FC0F6-40EB-6E66-8570-D8147C270092}"/>
              </a:ext>
            </a:extLst>
          </p:cNvPr>
          <p:cNvSpPr txBox="1"/>
          <p:nvPr/>
        </p:nvSpPr>
        <p:spPr>
          <a:xfrm>
            <a:off x="609600" y="1905000"/>
            <a:ext cx="112014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Public Safety Monitoring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automated approach for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CCTV and recorded video footage.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combination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YOLO-based person detection and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Pose Estimation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effective identification and tracking of human movements.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Recognition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identify normal and potentially dangerous activities such as falling, fighting, pushing, and unusual movements.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generate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 alerts for suspicious activities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the dependency on continuous manual CCTV monitoring.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the potential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and 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public safety, surveillance efficiency, and faster emergency response.</a:t>
            </a:r>
          </a:p>
        </p:txBody>
      </p:sp>
    </p:spTree>
    <p:extLst>
      <p:ext uri="{BB962C8B-B14F-4D97-AF65-F5344CB8AC3E}">
        <p14:creationId xmlns:p14="http://schemas.microsoft.com/office/powerpoint/2010/main" val="3177608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F4E5BC-F8B8-2805-0F69-CAE463013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4B674EB-7C62-2C63-B027-9CD7E657DC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172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74D5B1-5B4D-51AA-BF77-B564F966B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6E2B0B-497E-F21A-BCE0-87F5E4A9D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EDBC13-9468-5802-DFFE-6C5082602007}"/>
              </a:ext>
            </a:extLst>
          </p:cNvPr>
          <p:cNvSpPr txBox="1"/>
          <p:nvPr/>
        </p:nvSpPr>
        <p:spPr>
          <a:xfrm>
            <a:off x="533400" y="1752600"/>
            <a:ext cx="11277600" cy="4785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Redmon, J., et al. (2016).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“You Only Look Once: Unified, Real-Time Object Detection.”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Proceedings of the IEEE Conference on Computer Vision and Pattern Recognition (CVPR).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Lugaresi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et al. (2019).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Framework for Building Perception Pipelines.”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arXiv:1906.08172.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Cao, Z., et al. (2017).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“Realtime Multi-Person 2D Pose Estimation Using Part Affinity Fields.”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Proceedings of the IEEE Conference on Computer Vision and Pattern Recognition (CVPR).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Carreira, J., &amp; Zisserman, A. (2017).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“Quo Vadis, Action Recognition? A New Model and the Kinetics Dataset.”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Proceedings of the IEEE Conference on Computer Vision and Pattern Recognition (CVPR).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Simonyan, K., &amp; Zisserman, A. (2014).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“Two-Stream Convolutional Networks for Action Recognition in Videos.”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Advances in Neural Information Processing Systems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2354794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2E34BD-B81C-30A8-F4C4-AD53E978A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0C94A1A-F024-912F-A0A0-010E70A140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0" y="2514600"/>
            <a:ext cx="632460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50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24354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3198</TotalTime>
  <Words>1766</Words>
  <Application>Microsoft Office PowerPoint</Application>
  <PresentationFormat>Widescreen</PresentationFormat>
  <Paragraphs>172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Calibri</vt:lpstr>
      <vt:lpstr>Times New Roman</vt:lpstr>
      <vt:lpstr>Wingdings</vt:lpstr>
      <vt:lpstr>Office Theme</vt:lpstr>
      <vt:lpstr>PowerPoint Presentation</vt:lpstr>
      <vt:lpstr>AGENDA</vt:lpstr>
      <vt:lpstr>INTRODUCTION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AND DISCUSSION</vt:lpstr>
      <vt:lpstr>IMPLEMENTATION</vt:lpstr>
      <vt:lpstr>IMPLEMENTATION</vt:lpstr>
      <vt:lpstr>APPLICATIONS</vt:lpstr>
      <vt:lpstr>FUTURE SCOPE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siddartha y</dc:creator>
  <cp:lastModifiedBy>Chaitra Thulluru</cp:lastModifiedBy>
  <cp:revision>48</cp:revision>
  <dcterms:created xsi:type="dcterms:W3CDTF">2025-08-08T16:05:27Z</dcterms:created>
  <dcterms:modified xsi:type="dcterms:W3CDTF">2026-08-29T06:15:52Z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2025-08-08T00:00:00Z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2025-08-08T00:00:00Z</vt:filetime>
  </property>
</Properties>
</file>